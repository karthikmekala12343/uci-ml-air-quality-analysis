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8A19-BBBA-05C6-27ED-819354BE6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076E1-2C25-D311-3BE3-82FC3A0E5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8963A-04D7-3354-0E74-78818014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16EB2-C9BA-FEC5-88B6-8F9706AF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CB5C-B768-067C-FE94-9A943C02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1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0A31-87AB-4813-38DF-D383204D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2930-6F35-7E3D-EA4F-5CABED88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F2FC1-C370-0CDB-1554-62B24394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08480-DC7F-C684-0BA1-28EFF98B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C0BB-1E5A-B595-F9A9-12215AF7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98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5BD1-E96A-7C7F-FB72-0FA8B0C4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CB5FD-D25E-3133-4FC7-045F29951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47FA2-D74A-813E-B08E-2D8029D4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D822-1A68-7D92-C708-694FDAAA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6FB39-E3CD-CEB4-E8A4-369A6F06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3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1078-6951-5C52-13FF-DA8286FD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105F-73A2-9007-16A3-A0AD3D9CC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FA9E3-1844-ABBD-C090-264432909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17E44-CCA9-DF98-2ABE-46FFD05A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2EA11-049F-49E2-5B4F-78F32F98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E2E52-52CB-3BF9-D4B9-ADEF05BE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4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3656-0BE2-6D15-8D75-147E2420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4176-A0EF-9FAC-AEAA-D4FCC7591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C5687-3B4F-7B1F-7FD5-04986CE78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A14F5-0D4B-4352-18B8-8A8F7778B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4550E-6A21-E0C4-9576-1E87EDF3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92D78-96BE-2A4A-DEE4-FE665CB3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6B611F-EDF3-1FD7-F6E6-D6FECC59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9F7F1-47BD-A961-EB2A-EC5A98AF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9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5C8F-E620-DACC-B8D4-432EC952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30F57-88CE-9E76-DC02-B568AB38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991CE-35E3-6249-DAE5-5EB910F5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93B0-6BD3-6B2F-EF21-EB2480F9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18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AAE20E-8C99-C6F5-3E5E-B7B81D68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3955D-2167-2056-9B59-246711C7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30C35-DA64-1F20-F462-16EBC383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23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96B4-9E8A-920D-CFAB-6D861D69E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841E-A736-6EB2-E706-C07593800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FD41C-355A-68DD-F36A-92929595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2ABE-75A9-E500-5CD3-91011194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3B812-71AD-3435-4172-F532890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E6824-DAA7-72D9-63FC-292857DB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8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B000-A786-3C53-6A66-847154D1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D75CF-A6A1-0134-5135-3B81C65C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CD74F-CAAA-46F0-5BFD-C2E34F07C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18CE6-F479-C07C-4C5E-4C0A56AC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D2D31-383F-7163-AD2B-2B9CC14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B8F4A-966E-10F4-08AD-78DCC736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9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E579D-4B3B-BA71-C83A-CCD47BCD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1D845-8EB7-A161-EB7C-DC4C2A8B4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A556F-5EB2-5DAE-75CA-21F43873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9849-C919-C351-FB89-B0B1AC66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F930-DEE9-5FCC-15C1-161EBC76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31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7642A-6981-EBA2-9500-3B9CE7BF1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F98F0-C927-21A0-3A35-6BD0C0E59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6B734-3254-4CA4-225E-605D9215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3DD00-1243-8F8E-6513-E809C6EB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F1A7-C4B9-2EDC-F705-42FA367D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59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E911A-C49A-DCE9-4205-BAD5A6B4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7D4DA-02CF-3C75-87D7-EB1DC463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40D70-0895-863F-D0C5-5D1C43B1B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542C1-27ED-4AB3-85F7-DDE1ACD75EF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DE7B-74CA-F0BF-35AB-7C55BB0DA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1C01-B220-8FB0-0C65-62AA36904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4ED3B-684F-4056-93C8-349B1F3A6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26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AAI-500 Group 4 Project</a:t>
            </a: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/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/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33" y="145905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B30B43-8790-55E6-D491-BC39BE835122}"/>
              </a:ext>
            </a:extLst>
          </p:cNvPr>
          <p:cNvSpPr txBox="1"/>
          <p:nvPr/>
        </p:nvSpPr>
        <p:spPr>
          <a:xfrm>
            <a:off x="2095154" y="1443841"/>
            <a:ext cx="80016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Prediction of Carbon Monoxide (CO) Levels Using Machine Learning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Kalyan Brata Majumder</a:t>
            </a:r>
            <a:br>
              <a:rPr lang="en-US" dirty="0"/>
            </a:br>
            <a:r>
              <a:rPr lang="en-US" dirty="0"/>
              <a:t>Karthik Mekala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MS in Applied Artificial Intelligence</a:t>
            </a:r>
            <a:br>
              <a:rPr lang="en-US" dirty="0"/>
            </a:br>
            <a:r>
              <a:rPr lang="en-US" dirty="0"/>
              <a:t>University of San Diego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Supervisor: Prof. Anuj Kumar Sirohi</a:t>
            </a:r>
            <a:endParaRPr lang="en-IN" dirty="0"/>
          </a:p>
          <a:p>
            <a:pPr algn="ctr"/>
            <a:r>
              <a:rPr lang="en-US" dirty="0"/>
              <a:t>February 23, 2026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24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B414-81B4-F428-1C54-42376706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BFDB0D7A-9457-5C4F-FAA1-AF80B7364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Background &amp; Motivation</a:t>
            </a: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EFFD46E2-4004-3304-24DF-9CEE60A11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830CC218-A667-AD2A-B742-021A1AF0B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D10F4173-4EEC-91BC-07D6-E461B811C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33" y="145905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7F51F3-40A7-317B-E1CC-C3FB26E87119}"/>
              </a:ext>
            </a:extLst>
          </p:cNvPr>
          <p:cNvSpPr txBox="1"/>
          <p:nvPr/>
        </p:nvSpPr>
        <p:spPr>
          <a:xfrm>
            <a:off x="2095154" y="1582341"/>
            <a:ext cx="80016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Air pollution is a major global health risk.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Pollutants such as CO, NOx, Benzene and Ozone impact human health and environment.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Real-time prediction helps in: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Early warning systems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Pollution control strategies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Smart city monitoring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study uses the UCI Air Quality dataset to model and predict pollutant concentration.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49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4A7D-83C9-B168-4CD8-8A1C8DD7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BB963186-C9D2-84AD-64A9-20F50A271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Problem Statement</a:t>
            </a: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97ED0EE5-39F6-0778-63E8-3FF57E08C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BA9B03EE-078D-A202-CEC2-E7D9B117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12A95247-3924-21EF-DFAD-AD42EC680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33" y="145905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EAF670-9DF3-2C48-E5A0-D9F1A0BF028B}"/>
              </a:ext>
            </a:extLst>
          </p:cNvPr>
          <p:cNvSpPr txBox="1"/>
          <p:nvPr/>
        </p:nvSpPr>
        <p:spPr>
          <a:xfrm>
            <a:off x="2095154" y="2274838"/>
            <a:ext cx="80016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Objective: 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Predict </a:t>
            </a:r>
            <a:r>
              <a:rPr lang="en-US" b="1" dirty="0"/>
              <a:t>Carbon Monoxide (CO)</a:t>
            </a:r>
            <a:r>
              <a:rPr lang="en-US" dirty="0"/>
              <a:t> concentration using environmental and sensor variables.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Build a statistical / machine learning model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Evaluate prediction accuracy and interpret pollutant relationships.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70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7C53-E122-AFE2-8318-044CC35D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B25CAF24-0471-F3B5-9597-2A5D34852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Scientific Justification for Selecting Carbon Monoxide as Target Variable</a:t>
            </a: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6ABA6FBC-7150-C7D7-21F6-559D1F69D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63F565F3-0D65-7A33-97D0-24FFA83E0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7B8B2CA1-EDF5-3B80-2A33-B6B968C9C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81152-CC3E-7FAB-0D7C-F1DF78BD23DC}"/>
              </a:ext>
            </a:extLst>
          </p:cNvPr>
          <p:cNvSpPr txBox="1"/>
          <p:nvPr/>
        </p:nvSpPr>
        <p:spPr>
          <a:xfrm>
            <a:off x="2095154" y="1443841"/>
            <a:ext cx="80016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Public Health Significance - </a:t>
            </a:r>
            <a:r>
              <a:rPr lang="en-US" dirty="0"/>
              <a:t>According to </a:t>
            </a:r>
            <a:r>
              <a:rPr lang="en-US" b="1" dirty="0"/>
              <a:t>WHO</a:t>
            </a:r>
            <a:r>
              <a:rPr lang="en-US" dirty="0"/>
              <a:t> and </a:t>
            </a:r>
            <a:r>
              <a:rPr lang="en-US" b="1" dirty="0"/>
              <a:t>US EPA</a:t>
            </a:r>
            <a:r>
              <a:rPr lang="en-US" dirty="0"/>
              <a:t>, both acute and chronic CO exposure significantly increase respiratory and cardiovascular risk, even at relatively low concentrations.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 is a </a:t>
            </a:r>
            <a:r>
              <a:rPr lang="en-US" b="1" dirty="0"/>
              <a:t>primary pollutant</a:t>
            </a:r>
            <a:r>
              <a:rPr lang="en-US" dirty="0"/>
              <a:t>, emitted directly from incomplete combustion and provides real-time information about emission-driven pollution.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Correlation analysis shows CO has </a:t>
            </a:r>
            <a:r>
              <a:rPr lang="en-US" b="1" dirty="0"/>
              <a:t>strong positive association with combustion-related pollutants</a:t>
            </a:r>
            <a:r>
              <a:rPr lang="en-US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CO–C6H6 ≈ High correlation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CO–NOx ≈ Strong correlation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CO–NO₂ ≈ Significant correlation</a:t>
            </a:r>
          </a:p>
          <a:p>
            <a:pPr lvl="1"/>
            <a:r>
              <a:rPr lang="en-US" dirty="0"/>
              <a:t>CO therefore acts as a </a:t>
            </a:r>
            <a:r>
              <a:rPr lang="en-US" b="1" dirty="0"/>
              <a:t>proxy indicator of overall urban air pollution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40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1CC1-4A0D-3E71-1595-69D5D3FF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005CAFE5-71D5-2E6C-ACC2-D91DA29D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Dataset Description</a:t>
            </a: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FC57EDD4-FBA8-11EF-B5FB-564DE7D7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EEBD9CDC-F5CF-01AA-6C8B-549097627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D994FBB4-C6A7-607B-B4E4-2D75459A0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B1CCF-E45B-F111-5701-130C381BABCC}"/>
              </a:ext>
            </a:extLst>
          </p:cNvPr>
          <p:cNvSpPr txBox="1"/>
          <p:nvPr/>
        </p:nvSpPr>
        <p:spPr>
          <a:xfrm>
            <a:off x="2095154" y="2136339"/>
            <a:ext cx="80016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Source: UCI Machine Learning Repository.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Dataset: </a:t>
            </a:r>
            <a:r>
              <a:rPr lang="en-IN" b="1" dirty="0"/>
              <a:t>Air Quality Dataset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Time period: </a:t>
            </a:r>
            <a:r>
              <a:rPr lang="en-US" b="1" dirty="0"/>
              <a:t>March 2004 – April 2005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Measurements taken hourly.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Contains sensor readings + environmental variables.</a:t>
            </a:r>
          </a:p>
        </p:txBody>
      </p:sp>
    </p:spTree>
    <p:extLst>
      <p:ext uri="{BB962C8B-B14F-4D97-AF65-F5344CB8AC3E}">
        <p14:creationId xmlns:p14="http://schemas.microsoft.com/office/powerpoint/2010/main" val="80864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25FA-2B20-BE7D-91CA-3690D0C8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79EF72E9-A79B-4B89-D163-5214449ED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Data Cleaning/Preparation</a:t>
            </a: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12100D9F-0BDD-6834-67D1-AF728D8D2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3AE71195-476B-3B52-0F5C-258054B47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6B48F01C-2688-7D12-CF93-63D57F384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C04B2-E123-D2F1-DE5D-4B58E5423B92}"/>
              </a:ext>
            </a:extLst>
          </p:cNvPr>
          <p:cNvSpPr txBox="1"/>
          <p:nvPr/>
        </p:nvSpPr>
        <p:spPr>
          <a:xfrm>
            <a:off x="2095154" y="1305342"/>
            <a:ext cx="80016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Missing Values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Removed empty columns and NMHC(GT)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Imputed missing values using </a:t>
            </a:r>
            <a:r>
              <a:rPr lang="en-IN" b="1" dirty="0"/>
              <a:t>Iterative Imputer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Time-Series Preparation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Combined Date + Time → Datetime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Sorted chronologically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Set Datetime as index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Data Cleaning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Removed duplicates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Ensured consistent and valid dataset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Result</a:t>
            </a:r>
            <a:endParaRPr lang="en-IN" dirty="0"/>
          </a:p>
          <a:p>
            <a:pPr lvl="1"/>
            <a:r>
              <a:rPr lang="en-IN" dirty="0"/>
              <a:t>Clean, complete, and model-ready dataset</a:t>
            </a:r>
          </a:p>
        </p:txBody>
      </p:sp>
    </p:spTree>
    <p:extLst>
      <p:ext uri="{BB962C8B-B14F-4D97-AF65-F5344CB8AC3E}">
        <p14:creationId xmlns:p14="http://schemas.microsoft.com/office/powerpoint/2010/main" val="428076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11F4-2E1F-2E68-C58E-48871830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0CB3A5CC-869F-0365-3178-2AD649C7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A719E7A8-F8ED-2B16-74E2-C59AEC89D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2F2D332A-BF6D-7317-B8D4-82F51B6ED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92A800F4-4DB0-42EE-2259-C664D0A6E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2921F-F95E-F3F7-1D10-AA1D59F5239D}"/>
              </a:ext>
            </a:extLst>
          </p:cNvPr>
          <p:cNvSpPr txBox="1"/>
          <p:nvPr/>
        </p:nvSpPr>
        <p:spPr>
          <a:xfrm>
            <a:off x="2094053" y="1219200"/>
            <a:ext cx="800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ADB822-D886-A95F-7530-F41B5C0AA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48" y="1139342"/>
            <a:ext cx="8076304" cy="54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7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6E85-39B2-0217-58A8-8C14B0C2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3981E38C-CD66-630B-6FF4-7B86C8AA4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Interpretation of the time-series plot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C31CE237-4378-FB14-39D3-393123E2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0F5B20EB-8297-F789-3B15-86E31EBB8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80D26397-D635-B9D7-472A-27B878D08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12811-82FA-8779-1D02-D8824914A602}"/>
              </a:ext>
            </a:extLst>
          </p:cNvPr>
          <p:cNvSpPr txBox="1"/>
          <p:nvPr/>
        </p:nvSpPr>
        <p:spPr>
          <a:xfrm>
            <a:off x="2094053" y="1219200"/>
            <a:ext cx="800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24293-3698-B671-1B04-E17C2547A7D1}"/>
              </a:ext>
            </a:extLst>
          </p:cNvPr>
          <p:cNvSpPr txBox="1"/>
          <p:nvPr/>
        </p:nvSpPr>
        <p:spPr>
          <a:xfrm>
            <a:off x="2095154" y="1305342"/>
            <a:ext cx="80016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Seasonal Increase in Pollution (Oct–Feb, Italy)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Observation</a:t>
            </a:r>
          </a:p>
          <a:p>
            <a:pPr lvl="1"/>
            <a:r>
              <a:rPr lang="en-US" dirty="0"/>
              <a:t>Pollutant levels (CO, NOx, NO₂, C₆H₆) are highest from </a:t>
            </a:r>
            <a:r>
              <a:rPr lang="en-US" b="1" dirty="0"/>
              <a:t>October to February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Main Reasons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Temperature Inversion:</a:t>
            </a:r>
            <a:r>
              <a:rPr lang="en-US" dirty="0"/>
              <a:t> Cold air traps pollutants near the ground.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Winter Heating:</a:t>
            </a:r>
            <a:r>
              <a:rPr lang="en-US" dirty="0"/>
              <a:t> More emissions from wood, gas, and oil heating.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Cold Vehicle Starts:</a:t>
            </a:r>
            <a:r>
              <a:rPr lang="en-US" dirty="0"/>
              <a:t> Higher CO and NOx emissions.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Po Valley Geography:</a:t>
            </a:r>
            <a:r>
              <a:rPr lang="en-US" dirty="0"/>
              <a:t> Mountains restrict airflow and trap pollution.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Conclusion</a:t>
            </a:r>
          </a:p>
          <a:p>
            <a:pPr lvl="1"/>
            <a:r>
              <a:rPr lang="en-US" dirty="0"/>
              <a:t>Winter weather + increased emissions + geographic trapping cause </a:t>
            </a:r>
            <a:r>
              <a:rPr lang="en-US" b="1" dirty="0"/>
              <a:t>high pollution during Oct–Feb, </a:t>
            </a:r>
            <a:r>
              <a:rPr lang="en-US" dirty="0"/>
              <a:t>consistent with patterns seen in EDA.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14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9E5B-D2FD-D8D0-7ECA-A5C8A05A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4DCDDB22-9449-B657-131D-09D3475BC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Distribution of Pollutants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D1F71A81-AE43-5FB6-76E1-689DC1C6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0252DCBB-95E5-602B-BC12-99FF9FEE0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DC5506D6-93CB-0DAE-3ABC-35507D8F9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9C50B-DB5E-3E3E-79AC-5171F5029168}"/>
              </a:ext>
            </a:extLst>
          </p:cNvPr>
          <p:cNvSpPr txBox="1"/>
          <p:nvPr/>
        </p:nvSpPr>
        <p:spPr>
          <a:xfrm>
            <a:off x="2094053" y="1219200"/>
            <a:ext cx="800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DE821-EDF1-FFDE-1DD4-A590F6FB1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54" y="1159703"/>
            <a:ext cx="8001692" cy="55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8ECC-0608-3517-7C5F-45AAB4A9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219DD220-ABEE-D1F6-C523-BA1FEF3F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Distribution of Pollutants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F7E158D8-250E-04B7-BF7B-9D5EE2AF3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5D3B9F29-AC73-DE52-8A98-16C5CC28E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DF1BDF10-DA83-F503-581E-01348CDD6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70A46-C882-3A5B-C931-C365BEFD61B0}"/>
              </a:ext>
            </a:extLst>
          </p:cNvPr>
          <p:cNvSpPr txBox="1"/>
          <p:nvPr/>
        </p:nvSpPr>
        <p:spPr>
          <a:xfrm>
            <a:off x="2094053" y="1219200"/>
            <a:ext cx="800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361CE-E191-5398-F4E8-B6EDF5E11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54" y="1159703"/>
            <a:ext cx="8001692" cy="55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6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0BDF-8E08-7C5C-CC44-5AA1AE8C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E2446DF9-86CD-3C43-597C-2D800CC96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Interpretation of Pollutants Distribution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91516085-955E-E85A-693D-573C3EFDC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CD2FB290-D37D-FD22-C9C5-40FE24629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7648B12E-D535-BCD1-E190-6763B59D2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C88C4-D693-AAE7-FA27-46C458EEB1A5}"/>
              </a:ext>
            </a:extLst>
          </p:cNvPr>
          <p:cNvSpPr txBox="1"/>
          <p:nvPr/>
        </p:nvSpPr>
        <p:spPr>
          <a:xfrm>
            <a:off x="2095154" y="1997839"/>
            <a:ext cx="80016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Observation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All pollutants show </a:t>
            </a:r>
            <a:r>
              <a:rPr lang="en-US" b="1" dirty="0"/>
              <a:t>right-skewed distributions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Boxplots reveal </a:t>
            </a:r>
            <a:r>
              <a:rPr lang="en-US" b="1" dirty="0"/>
              <a:t>significant variability and presence of outliers.</a:t>
            </a: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Interpretation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Most of the time , pollution levels are low or moderate.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Outliers represent </a:t>
            </a:r>
            <a:r>
              <a:rPr lang="en-US" b="1" dirty="0"/>
              <a:t>real , high-pollution episodes</a:t>
            </a:r>
            <a:r>
              <a:rPr lang="en-US" dirty="0"/>
              <a:t>, not data errors.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High variability confirms pollutants are </a:t>
            </a:r>
            <a:r>
              <a:rPr lang="en-US" b="1" dirty="0"/>
              <a:t>dynamic and time-dependent</a:t>
            </a:r>
            <a:r>
              <a:rPr lang="en-US" dirty="0"/>
              <a:t>, supporting predictive modeling.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24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56BF-C686-F235-4E22-68F57024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06106BCC-5DC5-D3FA-F330-8C721EF38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Influence of Meteorological Factors on Air Pollutants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73EF5E1F-7F13-2139-AA6A-3EE18B2A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46F84FFF-39BA-2437-1964-D48F68BB6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03692965-1AB0-F023-B06B-213F862B8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57FC20-BEB6-6FBC-80DD-55BBDAE1C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1" y="1219200"/>
            <a:ext cx="8001692" cy="549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1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B412-884E-04E4-0B1E-BA709E1D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45145953-2D1A-689B-F538-E12451376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Influence of Meteorological Factors on Air Pollutants</a:t>
            </a:r>
          </a:p>
          <a:p>
            <a:pPr algn="ctr">
              <a:defRPr/>
            </a:pPr>
            <a:endParaRPr lang="en-IN" b="1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8B88D903-316C-7EFE-BBB3-2754A7590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FEEDEFC5-74C4-1FC3-DD91-FAFC42CBD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6E1670F7-C731-3580-4F6F-C2F808335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3F5FD3-0825-5171-9D25-1A881251F1D4}"/>
              </a:ext>
            </a:extLst>
          </p:cNvPr>
          <p:cNvSpPr txBox="1"/>
          <p:nvPr/>
        </p:nvSpPr>
        <p:spPr>
          <a:xfrm>
            <a:off x="2095154" y="1305342"/>
            <a:ext cx="80016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Observations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Temperature and humidity shows </a:t>
            </a:r>
            <a:r>
              <a:rPr lang="en-US" b="1" dirty="0"/>
              <a:t>moderate negative correlation with NOx and NO₂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 has very weak correlation with meteorological parameters.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Interpretation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NOx:</a:t>
            </a:r>
            <a:r>
              <a:rPr lang="en-US" dirty="0"/>
              <a:t> Decreases with rising temperature. This is related to better atmospheric dispersion.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NO₂:</a:t>
            </a:r>
            <a:r>
              <a:rPr lang="en-US" dirty="0"/>
              <a:t> Decreases with higher moisture levels.</a:t>
            </a:r>
            <a:r>
              <a:rPr lang="en-IN" dirty="0"/>
              <a:t> Moisture converts NO₂ to </a:t>
            </a:r>
            <a:r>
              <a:rPr lang="en-IN" b="1" dirty="0"/>
              <a:t>nitric acid (HNO₃)</a:t>
            </a:r>
            <a:r>
              <a:rPr lang="en-IN" dirty="0"/>
              <a:t> on wet surfaces/droplets and this removes NO₂ from air.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Weather impact on NO₂ is stronger</a:t>
            </a:r>
            <a:r>
              <a:rPr lang="en-US" dirty="0"/>
              <a:t> than on CO, C₆H₆, and NOx, as supported by the data.</a:t>
            </a:r>
            <a:endParaRPr lang="en-US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99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B17E-9B56-5F0B-FB4B-B3F74AB2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F6BEEEC2-7634-9C7C-1C96-F29341CEE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Correlation Structure Among Major Air Pollutants</a:t>
            </a: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005F72BC-AD62-451A-412C-B82B6E8E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00793A96-1161-BE1B-2429-6CA089E38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58254F76-12E2-8394-9181-0B9052EC8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3406C7-AF74-8010-C3C1-A559C87EF67B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A74CF-6E35-E5E7-6C70-BFF0DAD59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570" y="1385793"/>
            <a:ext cx="5184658" cy="453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1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77A8-4BDB-024E-4235-14E8FE6B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38B7B4F9-9369-8176-74DC-E7AEA58B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IN" dirty="0">
                <a:solidFill>
                  <a:schemeClr val="bg1"/>
                </a:solidFill>
              </a:rPr>
              <a:t>Exploratory Data Analysis (EDA)</a:t>
            </a:r>
          </a:p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Correlation Structure Among Major Air Pollutants</a:t>
            </a:r>
          </a:p>
          <a:p>
            <a:pPr algn="ctr">
              <a:defRPr/>
            </a:pP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EE533269-5173-CC0D-CC11-2FF43B92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F29F505C-4981-92EE-4729-C7AE4223C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0AAD0B8F-71F4-E2FF-0E7C-AFD23A319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270B3A-A2A0-DE9C-A794-3CB02C6A6191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840CE-C82E-2345-3E0C-64F5A59B642C}"/>
              </a:ext>
            </a:extLst>
          </p:cNvPr>
          <p:cNvSpPr txBox="1"/>
          <p:nvPr/>
        </p:nvSpPr>
        <p:spPr>
          <a:xfrm>
            <a:off x="2095154" y="1253067"/>
            <a:ext cx="80016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Observations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Strong positive correlation between </a:t>
            </a:r>
            <a:r>
              <a:rPr lang="en-US" b="1" dirty="0"/>
              <a:t>CO and C6H6 (≈ 0.94)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 also shows high correlation with </a:t>
            </a:r>
            <a:r>
              <a:rPr lang="en-US" b="1" dirty="0"/>
              <a:t>NOx (≈ 0.81)</a:t>
            </a:r>
            <a:r>
              <a:rPr lang="en-US" dirty="0"/>
              <a:t> and </a:t>
            </a:r>
            <a:r>
              <a:rPr lang="en-US" b="1" dirty="0"/>
              <a:t>NO₂ (≈ 0.71)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C6H6 is strongly correlated with </a:t>
            </a:r>
            <a:r>
              <a:rPr lang="en-US" b="1" dirty="0"/>
              <a:t>NOx (≈ 0.74)</a:t>
            </a:r>
            <a:r>
              <a:rPr lang="en-US" dirty="0"/>
              <a:t> and moderately with </a:t>
            </a:r>
            <a:r>
              <a:rPr lang="en-US" b="1" dirty="0"/>
              <a:t>NO₂ (≈ 0.64)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All pollutants exhibit </a:t>
            </a:r>
            <a:r>
              <a:rPr lang="en-US" b="1" dirty="0"/>
              <a:t>positive association</a:t>
            </a:r>
            <a:r>
              <a:rPr lang="en-US" dirty="0"/>
              <a:t>, indicating linked behavior.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Interpretation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Strong correlations indicate </a:t>
            </a:r>
            <a:r>
              <a:rPr lang="en-US" b="1" dirty="0"/>
              <a:t>common emission sources</a:t>
            </a:r>
            <a:r>
              <a:rPr lang="en-US" dirty="0"/>
              <a:t>, primarily </a:t>
            </a:r>
            <a:r>
              <a:rPr lang="en-US" b="1" dirty="0"/>
              <a:t>vehicular and combustion-related pollution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 behaves as a </a:t>
            </a:r>
            <a:r>
              <a:rPr lang="en-US" b="1" dirty="0"/>
              <a:t>representative proxy pollutant</a:t>
            </a:r>
            <a:r>
              <a:rPr lang="en-US" dirty="0"/>
              <a:t> for overall combustion-driven air pollution.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High pollutant interdependence supports </a:t>
            </a:r>
            <a:r>
              <a:rPr lang="en-US" b="1" dirty="0"/>
              <a:t>multivariate modeling approach</a:t>
            </a:r>
            <a:r>
              <a:rPr lang="en-US" dirty="0"/>
              <a:t>.</a:t>
            </a: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Correlation structure explains why CO can be </a:t>
            </a:r>
            <a:r>
              <a:rPr lang="en-US" b="1" dirty="0"/>
              <a:t>predicted effectively using other pollutants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Results confirm pollution is </a:t>
            </a:r>
            <a:r>
              <a:rPr lang="en-US" b="1" dirty="0"/>
              <a:t>system-driven rather than independent random behavior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4879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EC1E7-0750-74A7-809D-FD9F3FC2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83E08CAC-F720-F2D0-5FEE-936644DDC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Predictive Model for Carbon Monoxide (CO) Concentration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40A60EEE-8CDC-E010-DA29-F15EB8520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24B325BE-F834-3F9D-74C4-3BB6ABA0B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2BF81929-2E30-22B6-1BF9-BD48DC6F2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F7320C-0DFD-2D88-BE01-25E9251EE7A6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2F86A-B664-BF2D-4F7F-34466109630D}"/>
              </a:ext>
            </a:extLst>
          </p:cNvPr>
          <p:cNvSpPr txBox="1"/>
          <p:nvPr/>
        </p:nvSpPr>
        <p:spPr>
          <a:xfrm>
            <a:off x="2095154" y="1305342"/>
            <a:ext cx="80016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Model Description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Generalized Linear Model (GLM) with Gaussian family was developed to estimate </a:t>
            </a:r>
            <a:r>
              <a:rPr lang="en-US" b="1" dirty="0"/>
              <a:t>CO(GT)</a:t>
            </a:r>
            <a:r>
              <a:rPr lang="en-US" dirty="0"/>
              <a:t> concentration.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Input predictors included: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Combustion related pollutants : </a:t>
            </a:r>
            <a:r>
              <a:rPr lang="fr-FR" b="1" dirty="0"/>
              <a:t>C6H6(GT), NOx(GT), NO₂(GT)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Meteorological variables : </a:t>
            </a:r>
            <a:r>
              <a:rPr lang="en-IN" b="1" dirty="0"/>
              <a:t>Temperature (T), Relative Humidity (RH), Absolute Humidity (AH)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Date and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CO sensor readings excluded to avoid </a:t>
            </a:r>
            <a:r>
              <a:rPr lang="en-IN" b="1" dirty="0"/>
              <a:t>data leakage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Dataset was divided into </a:t>
            </a:r>
            <a:r>
              <a:rPr lang="en-US" b="1" dirty="0"/>
              <a:t>training and testing subsets</a:t>
            </a:r>
            <a:r>
              <a:rPr lang="en-US" dirty="0"/>
              <a:t> (70-30 ratio) to evaluate model performance.</a:t>
            </a:r>
            <a:endParaRPr lang="fr-FR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1920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E516-6089-019E-9733-175FC087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A0588500-E41B-FF56-8ED4-C8292671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Predictive Model for Carbon Monoxide (CO) Concentration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90850C03-42B2-0DF4-CA13-273AD1BA0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380E7F5A-7DFC-8D86-E7A6-FE11FDDA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3B78C865-EF92-A082-0939-7F9B08A87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A6926E-076A-D8AC-99BD-3025A902D74D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6B975C-8DDA-59E6-8DA5-0A127859BEC6}"/>
                  </a:ext>
                </a:extLst>
              </p:cNvPr>
              <p:cNvSpPr txBox="1"/>
              <p:nvPr/>
            </p:nvSpPr>
            <p:spPr>
              <a:xfrm>
                <a:off x="2095154" y="1166843"/>
                <a:ext cx="8001692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Model Description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The predictive relationship is expressed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𝐂𝐎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nor/>
                        </m:rPr>
                        <a:rPr lang="en-IN" b="1"/>
                        <m:t>C</m:t>
                      </m:r>
                      <m:r>
                        <m:rPr>
                          <m:nor/>
                        </m:rPr>
                        <a:rPr lang="en-IN" b="1"/>
                        <m:t>₆</m:t>
                      </m:r>
                      <m:r>
                        <m:rPr>
                          <m:nor/>
                        </m:rPr>
                        <a:rPr lang="en-IN" b="1"/>
                        <m:t>H</m:t>
                      </m:r>
                      <m:r>
                        <m:rPr>
                          <m:nor/>
                        </m:rPr>
                        <a:rPr lang="en-IN" b="1"/>
                        <m:t>₆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𝐍𝐎𝐱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𝐍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𝐑𝐇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𝛃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𝐀𝐇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𝛜</m:t>
                      </m:r>
                    </m:oMath>
                  </m:oMathPara>
                </a14:m>
                <a:endParaRPr lang="en-IN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model coefficients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N" dirty="0"/>
                  <a:t>= random error</a:t>
                </a:r>
              </a:p>
              <a:p>
                <a:pPr lvl="2"/>
                <a:endParaRPr lang="en-IN" dirty="0"/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The model captures both </a:t>
                </a:r>
                <a:r>
                  <a:rPr lang="en-US" b="1" dirty="0"/>
                  <a:t>emission-driven and environmental variation</a:t>
                </a:r>
                <a:r>
                  <a:rPr lang="en-US" dirty="0"/>
                  <a:t>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Multivariate modeling improves prediction by incorporating </a:t>
                </a:r>
                <a:r>
                  <a:rPr lang="en-US" b="1" dirty="0"/>
                  <a:t>system-wide pollution dynamics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Observation</a:t>
                </a:r>
              </a:p>
              <a:p>
                <a:pPr lvl="1"/>
                <a:r>
                  <a:rPr lang="en-US" dirty="0"/>
                  <a:t>The multivariate regression model successfully captures the relationship between combustion-related pollutants and environmental factors, enabling reliable prediction of Carbon Monoxide concentration.</a:t>
                </a:r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6B975C-8DDA-59E6-8DA5-0A127859B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154" y="1166843"/>
                <a:ext cx="8001692" cy="4524315"/>
              </a:xfrm>
              <a:prstGeom prst="rect">
                <a:avLst/>
              </a:prstGeom>
              <a:blipFill>
                <a:blip r:embed="rId3"/>
                <a:stretch>
                  <a:fillRect l="-534" t="-538" b="-1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564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173F-D861-DFFA-133B-218CC42C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2C455898-0C79-9C54-EAF6-6D2C104B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Predictive Model for Carbon Monoxide (CO) Concentration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2218776C-88B7-037D-0290-77CA79C31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BA1D8E2F-7165-2878-1188-B5276AB2E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FEF67573-CDED-1564-951D-2B772777E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714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928746-BA7E-2C52-F988-33B3F0BB960E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35A1E-01E1-43EA-9A72-D15712EA8BF4}"/>
              </a:ext>
            </a:extLst>
          </p:cNvPr>
          <p:cNvSpPr txBox="1"/>
          <p:nvPr/>
        </p:nvSpPr>
        <p:spPr>
          <a:xfrm>
            <a:off x="2094053" y="1253067"/>
            <a:ext cx="80016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Model performance</a:t>
            </a:r>
            <a:endParaRPr lang="en-US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ar-AE" dirty="0"/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2BF3A-8579-D52B-926D-2F5C1DB3D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874" y="1583201"/>
            <a:ext cx="4892050" cy="50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11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CF8D-3B59-DB0A-6B18-3D2AAFD4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32D93F27-6E6E-E674-91C0-4B48971EA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Performance Evaluation of CO Prediction Model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8B0CBF15-85F1-2A1E-4B6D-1F1065B6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FEE300C-7459-6E6D-D808-6BABB0CAB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5747434E-CDDB-A25E-617B-611D54DB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507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6025B0-C5A2-EAC4-FE2A-8F373F460977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76342D-4794-C8C1-BE95-E6C0B44A2447}"/>
                  </a:ext>
                </a:extLst>
              </p:cNvPr>
              <p:cNvSpPr txBox="1"/>
              <p:nvPr/>
            </p:nvSpPr>
            <p:spPr>
              <a:xfrm>
                <a:off x="2094053" y="1579231"/>
                <a:ext cx="8001692" cy="3699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Prediction Accuracy (Test Data)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ar-AE" b="1" dirty="0"/>
                  <a:t>= </a:t>
                </a:r>
                <a:r>
                  <a:rPr lang="en-IN" b="1" dirty="0"/>
                  <a:t>0.94</a:t>
                </a:r>
                <a:br>
                  <a:rPr lang="ar-AE" dirty="0"/>
                </a:br>
                <a:r>
                  <a:rPr lang="ar-AE" dirty="0"/>
                  <a:t>→ </a:t>
                </a:r>
                <a:r>
                  <a:rPr lang="en-IN" dirty="0"/>
                  <a:t>Model explains ~94% of variation in CO concentration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b="1" dirty="0"/>
                  <a:t>RMSE = 0.37</a:t>
                </a:r>
                <a:br>
                  <a:rPr lang="en-IN" dirty="0"/>
                </a:br>
                <a:r>
                  <a:rPr lang="en-IN" dirty="0"/>
                  <a:t>→ Average prediction error is low.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b="1" dirty="0"/>
                  <a:t>MAE = 0.27</a:t>
                </a:r>
                <a:br>
                  <a:rPr lang="en-IN" dirty="0"/>
                </a:br>
                <a:r>
                  <a:rPr lang="en-IN" dirty="0"/>
                  <a:t>→ Predictions are consistently close to actual values.</a:t>
                </a:r>
              </a:p>
              <a:p>
                <a:endParaRPr lang="en-US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Statistical Significance</a:t>
                </a:r>
              </a:p>
              <a:p>
                <a:pPr lvl="1"/>
                <a:r>
                  <a:rPr lang="en-US" dirty="0"/>
                  <a:t>Most predictors are highly significant </a:t>
                </a:r>
                <a:r>
                  <a:rPr lang="en-US" b="1" dirty="0"/>
                  <a:t>(p &lt; 0.05):</a:t>
                </a:r>
              </a:p>
              <a:p>
                <a:pPr lvl="1"/>
                <a:r>
                  <a:rPr lang="en-US" dirty="0"/>
                  <a:t>C6H6, NOx, NO₂, Temperature, AH, Hour, Day-of-week.</a:t>
                </a:r>
              </a:p>
              <a:p>
                <a:pPr lvl="1"/>
                <a:r>
                  <a:rPr lang="en-US" dirty="0"/>
                  <a:t>This indicates CO is strongly driven by combustion pollutants and environmental factors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76342D-4794-C8C1-BE95-E6C0B44A2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053" y="1579231"/>
                <a:ext cx="8001692" cy="3699539"/>
              </a:xfrm>
              <a:prstGeom prst="rect">
                <a:avLst/>
              </a:prstGeom>
              <a:blipFill>
                <a:blip r:embed="rId3"/>
                <a:stretch>
                  <a:fillRect l="-534" t="-659" b="-18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1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E63E-8FC6-7C21-0375-E45F9EB1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FEC3D910-7C7E-EA11-C1F9-F1AE931AB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</a:rPr>
              <a:t>Limitations of the CO Prediction Model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24221E31-9A8B-FFEA-FA55-4D206218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CB6EE7AF-10A9-D389-9695-EF2106B7A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DEA695C8-18CA-6A27-0C6F-DCEDA3B76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507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081D81-034F-E6F0-D40F-91E76CAC638B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9515C-90BC-8614-8683-2FC67AD6AD95}"/>
              </a:ext>
            </a:extLst>
          </p:cNvPr>
          <p:cNvSpPr txBox="1"/>
          <p:nvPr/>
        </p:nvSpPr>
        <p:spPr>
          <a:xfrm>
            <a:off x="2094053" y="1253067"/>
            <a:ext cx="80016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Key Limitations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Limited Geographic Scope - </a:t>
            </a:r>
            <a:r>
              <a:rPr lang="en-US" dirty="0"/>
              <a:t>Model may not generalize directly to other cities with different emission patterns and meteorological conditions.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Missing External Influencing Factors – </a:t>
            </a:r>
            <a:r>
              <a:rPr lang="en-US" dirty="0"/>
              <a:t>Important real-world variables not included: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Wind speed and direction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Traffic intensity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Industrial activity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Rare high-pollution spikes are </a:t>
            </a:r>
            <a:r>
              <a:rPr lang="en-US" b="1" dirty="0"/>
              <a:t>harder to model accurately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Model Constraints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While the model demonstrates strong predictive capability, its performance is constrained by data limitations, unobserved environmental factors, and challenges in modeling extreme pollution events.</a:t>
            </a:r>
            <a:endParaRPr lang="en-IN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9171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7E97-CD38-6377-CAD1-02B72EAB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0670FE65-E76D-4DDF-9AE4-BED46A98C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</a:rPr>
              <a:t>Future Work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23697847-4A62-48D9-932B-0B6D4473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3088CAD4-841C-7697-AC11-9F008D6B2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3B1D8822-8B24-7EBC-917F-58EA1393E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507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8BC9F3-D0A5-7586-869C-A1C3509AFAFB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5DAFD-A6B6-D5A7-8461-FD3E4A45E787}"/>
              </a:ext>
            </a:extLst>
          </p:cNvPr>
          <p:cNvSpPr txBox="1"/>
          <p:nvPr/>
        </p:nvSpPr>
        <p:spPr>
          <a:xfrm>
            <a:off x="2094053" y="1443841"/>
            <a:ext cx="80016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Model Enhancement - </a:t>
            </a:r>
            <a:r>
              <a:rPr lang="en-US" dirty="0"/>
              <a:t>Extend current framework to </a:t>
            </a:r>
            <a:r>
              <a:rPr lang="en-US" b="1" dirty="0"/>
              <a:t>deep learning–based time-series models (LSTM / RNN)</a:t>
            </a:r>
            <a:r>
              <a:rPr lang="en-US" dirty="0"/>
              <a:t> to capture non-linear and long-term temporal dependencies.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 modeling of </a:t>
            </a:r>
            <a:r>
              <a:rPr lang="en-US" b="1" dirty="0"/>
              <a:t>extreme pollution events and complex atmospheric dynamics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 prediction by modeling </a:t>
            </a:r>
            <a:r>
              <a:rPr lang="en-US" b="1" dirty="0"/>
              <a:t>pollution dispersion and emission variability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Include important external drivers: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Wind speed and direction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Traffic intensity / vehicular load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Industrial emission indicators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5216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9F3CC-D407-C660-B218-C74F05C4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86553D5E-67FF-D6D8-1555-56AB0182D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</a:rPr>
              <a:t>Conclusion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79395EF9-94C1-8FED-38C0-F2083F9C5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66BAD993-3BC9-2D17-F562-A54B09C70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35D9397A-434F-0E2C-CBE9-3FF782E49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507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139F67-F4A1-0FBF-00A0-A81BA760E289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5C3BC5-4E51-58CB-8B81-0D416B72CAAD}"/>
                  </a:ext>
                </a:extLst>
              </p:cNvPr>
              <p:cNvSpPr txBox="1"/>
              <p:nvPr/>
            </p:nvSpPr>
            <p:spPr>
              <a:xfrm>
                <a:off x="2094053" y="1253067"/>
                <a:ext cx="8001692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Study Summary</a:t>
                </a:r>
              </a:p>
              <a:p>
                <a:endParaRPr lang="en-US" b="1" dirty="0"/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Developed a </a:t>
                </a:r>
                <a:r>
                  <a:rPr lang="en-US" b="1" dirty="0"/>
                  <a:t>Gaussian Generalized Linear Model (GLM)</a:t>
                </a:r>
                <a:r>
                  <a:rPr lang="en-US" dirty="0"/>
                  <a:t> to predict Carbon Monoxide (CO) concentration using pollutant and meteorological variables.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Preprocessed and structured the dataset into a </a:t>
                </a:r>
                <a:r>
                  <a:rPr lang="en-US" b="1" dirty="0"/>
                  <a:t>clean time-series format</a:t>
                </a:r>
                <a:r>
                  <a:rPr lang="en-US" dirty="0"/>
                  <a:t> for reliable modeling.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Exploratory analysis revealed </a:t>
                </a:r>
                <a:r>
                  <a:rPr lang="en-US" b="1" dirty="0"/>
                  <a:t>strong interdependence among combustion-related pollutants</a:t>
                </a:r>
                <a:r>
                  <a:rPr lang="en-US" dirty="0"/>
                  <a:t> and dynamic temporal behavior.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Key Findings</a:t>
                </a:r>
              </a:p>
              <a:p>
                <a:endParaRPr lang="en-IN" b="1" dirty="0"/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Model achieved </a:t>
                </a:r>
                <a:r>
                  <a:rPr lang="en-IN" b="1" dirty="0"/>
                  <a:t>high predictive accuracy</a:t>
                </a:r>
                <a:r>
                  <a:rPr lang="en-IN" dirty="0"/>
                  <a:t> (Adjusted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  <a:r>
                  <a:rPr lang="ar-AE" dirty="0"/>
                  <a:t>) </a:t>
                </a:r>
                <a:r>
                  <a:rPr lang="en-IN" dirty="0"/>
                  <a:t>with </a:t>
                </a:r>
                <a:r>
                  <a:rPr lang="en-IN" b="1" dirty="0"/>
                  <a:t>low prediction error</a:t>
                </a:r>
                <a:r>
                  <a:rPr lang="en-IN" dirty="0"/>
                  <a:t> (RMSE = 0.37, MAE = 0.27)).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CO concentration is primarily driven by </a:t>
                </a:r>
                <a:r>
                  <a:rPr lang="en-IN" b="1" dirty="0"/>
                  <a:t>combustion-related pollutants (C6H6, NOx, NO₂)</a:t>
                </a:r>
                <a:r>
                  <a:rPr lang="en-IN" dirty="0"/>
                  <a:t> with additional influence from environmental factors.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The model successfully captures </a:t>
                </a:r>
                <a:r>
                  <a:rPr lang="en-IN" b="1" dirty="0"/>
                  <a:t>temporal variation and pollution dynamics</a:t>
                </a:r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5C3BC5-4E51-58CB-8B81-0D416B72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053" y="1253067"/>
                <a:ext cx="8001692" cy="5355312"/>
              </a:xfrm>
              <a:prstGeom prst="rect">
                <a:avLst/>
              </a:prstGeom>
              <a:blipFill>
                <a:blip r:embed="rId3"/>
                <a:stretch>
                  <a:fillRect l="-534" t="-569" r="-762" b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036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990A-CA17-0E0C-64CE-B1E1C925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>
            <a:extLst>
              <a:ext uri="{FF2B5EF4-FFF2-40B4-BE49-F238E27FC236}">
                <a16:creationId xmlns:a16="http://schemas.microsoft.com/office/drawing/2014/main" id="{401D2AE9-0B1D-AED1-F026-98BD31F4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0"/>
            <a:ext cx="8001692" cy="992201"/>
          </a:xfrm>
          <a:prstGeom prst="rect">
            <a:avLst/>
          </a:prstGeom>
          <a:solidFill>
            <a:srgbClr val="00246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9049" tIns="9525" rIns="19049" bIns="9524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</a:rPr>
              <a:t>Individual Contributions</a:t>
            </a:r>
            <a:endParaRPr lang="en-US" sz="1600" b="1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DFB05007-EAE9-6A8A-0B9C-99B5D8253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6720417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CF3450AC-ACB0-7F95-6874-EE9A65D71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255" y="952040"/>
            <a:ext cx="8001692" cy="148167"/>
          </a:xfrm>
          <a:prstGeom prst="rect">
            <a:avLst/>
          </a:prstGeom>
          <a:solidFill>
            <a:srgbClr val="78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050" tIns="9525" rIns="19050" bIns="95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75" dirty="0"/>
          </a:p>
        </p:txBody>
      </p:sp>
      <p:pic>
        <p:nvPicPr>
          <p:cNvPr id="19" name="Picture 18" descr="USD 4c Logo reverse.ai">
            <a:extLst>
              <a:ext uri="{FF2B5EF4-FFF2-40B4-BE49-F238E27FC236}">
                <a16:creationId xmlns:a16="http://schemas.microsoft.com/office/drawing/2014/main" id="{707A2462-057E-691C-5603-EAA811C9E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77" y="145072"/>
            <a:ext cx="839368" cy="745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5C6999-3818-EBC7-727A-28DAF4EDF45B}"/>
              </a:ext>
            </a:extLst>
          </p:cNvPr>
          <p:cNvSpPr txBox="1"/>
          <p:nvPr/>
        </p:nvSpPr>
        <p:spPr>
          <a:xfrm>
            <a:off x="2094053" y="1253067"/>
            <a:ext cx="800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47386-136D-4CFD-E921-33DE5A4177D9}"/>
              </a:ext>
            </a:extLst>
          </p:cNvPr>
          <p:cNvSpPr txBox="1"/>
          <p:nvPr/>
        </p:nvSpPr>
        <p:spPr>
          <a:xfrm>
            <a:off x="2094053" y="1253067"/>
            <a:ext cx="800169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Kalyan Brata Majumder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Performed data cleaning and handled missing value imputation.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Developed correlation heatmaps between pollutants and meteorological variables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Analyzed correlation structure among major air pollutants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Built the Carbon Monoxide (CO) predictive model using Generalized Linear Model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Prepared and finalized the presentation content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Conducted a comparative analysis with prior research, by Wang (2025), to assess relative predictive performance, interpretability, and methodological differences.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Karthik Mekala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Conducted exploratory data analysis (EDA)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Developed time-series visualization and probability distribution analysis of pollutants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Created boxplot visualizations for pollutant distribution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Prepared and finalized the technical report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Designed and structured the complete GitHub repository, including project setup and documentation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Radhakrishna Lambu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Due to academic withdrawal </a:t>
            </a:r>
            <a:r>
              <a:rPr lang="en-US" sz="1600" dirty="0"/>
              <a:t>during the project period, all research, analysis, and implementation were carried out by the remaining two team members.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24694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1490</Words>
  <Application>Microsoft Office PowerPoint</Application>
  <PresentationFormat>Widescreen</PresentationFormat>
  <Paragraphs>220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Arial Black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 Brata Majumder</dc:creator>
  <cp:lastModifiedBy>Kalyan Brata Majumder</cp:lastModifiedBy>
  <cp:revision>62</cp:revision>
  <dcterms:created xsi:type="dcterms:W3CDTF">2026-02-16T15:45:36Z</dcterms:created>
  <dcterms:modified xsi:type="dcterms:W3CDTF">2026-02-23T14:36:38Z</dcterms:modified>
</cp:coreProperties>
</file>